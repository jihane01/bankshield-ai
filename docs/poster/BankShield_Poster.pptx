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5943600" cy="5943600"/>
          </a:xfrm>
          <a:prstGeom prst="ellipse">
            <a:avLst/>
          </a:prstGeom>
          <a:solidFill>
            <a:srgbClr val="E7EEFC"/>
          </a:solidFill>
          <a:ln/>
        </p:spPr>
      </p:sp>
      <p:sp>
        <p:nvSpPr>
          <p:cNvPr id="3" name="Shape 1"/>
          <p:cNvSpPr/>
          <p:nvPr/>
        </p:nvSpPr>
        <p:spPr>
          <a:xfrm>
            <a:off x="3291840" y="4754880"/>
            <a:ext cx="3840480" cy="3840480"/>
          </a:xfrm>
          <a:prstGeom prst="ellipse">
            <a:avLst/>
          </a:prstGeom>
          <a:solidFill>
            <a:srgbClr val="E7EEFC"/>
          </a:solidFill>
          <a:ln/>
        </p:spPr>
      </p:sp>
      <p:sp>
        <p:nvSpPr>
          <p:cNvPr id="4" name="Shape 2"/>
          <p:cNvSpPr/>
          <p:nvPr/>
        </p:nvSpPr>
        <p:spPr>
          <a:xfrm>
            <a:off x="11475720" y="0"/>
            <a:ext cx="715975" cy="6858000"/>
          </a:xfrm>
          <a:prstGeom prst="rect">
            <a:avLst/>
          </a:prstGeom>
          <a:solidFill>
            <a:srgbClr val="0F1830"/>
          </a:solidFill>
          <a:ln/>
        </p:spPr>
      </p:sp>
      <p:sp>
        <p:nvSpPr>
          <p:cNvPr id="5" name="Text 3"/>
          <p:cNvSpPr/>
          <p:nvPr/>
        </p:nvSpPr>
        <p:spPr>
          <a:xfrm>
            <a:off x="11475720" y="256032"/>
            <a:ext cx="71597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1612880" y="1188720"/>
            <a:ext cx="441655" cy="0"/>
          </a:xfrm>
          <a:prstGeom prst="line">
            <a:avLst/>
          </a:prstGeom>
          <a:noFill/>
          <a:ln w="12700">
            <a:solidFill>
              <a:srgbClr val="2A37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75720" y="1280160"/>
            <a:ext cx="7159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85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7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85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1548872" y="5212080"/>
            <a:ext cx="201168" cy="1051560"/>
          </a:xfrm>
          <a:prstGeom prst="rect">
            <a:avLst/>
          </a:prstGeom>
          <a:solidFill>
            <a:srgbClr val="1C2A57"/>
          </a:solidFill>
          <a:ln/>
        </p:spPr>
      </p:sp>
      <p:sp>
        <p:nvSpPr>
          <p:cNvPr id="9" name="Shape 7"/>
          <p:cNvSpPr/>
          <p:nvPr/>
        </p:nvSpPr>
        <p:spPr>
          <a:xfrm>
            <a:off x="11768328" y="5486400"/>
            <a:ext cx="146304" cy="777240"/>
          </a:xfrm>
          <a:prstGeom prst="rect">
            <a:avLst/>
          </a:prstGeom>
          <a:solidFill>
            <a:srgbClr val="1C2A57"/>
          </a:solidFill>
          <a:ln/>
        </p:spPr>
      </p:sp>
      <p:sp>
        <p:nvSpPr>
          <p:cNvPr id="10" name="Shape 8"/>
          <p:cNvSpPr/>
          <p:nvPr/>
        </p:nvSpPr>
        <p:spPr>
          <a:xfrm>
            <a:off x="11932920" y="5029200"/>
            <a:ext cx="182880" cy="1234440"/>
          </a:xfrm>
          <a:prstGeom prst="rect">
            <a:avLst/>
          </a:prstGeom>
          <a:solidFill>
            <a:srgbClr val="1C2A57"/>
          </a:solidFill>
          <a:ln/>
        </p:spPr>
      </p:sp>
      <p:sp>
        <p:nvSpPr>
          <p:cNvPr id="11" name="Shape 9"/>
          <p:cNvSpPr/>
          <p:nvPr/>
        </p:nvSpPr>
        <p:spPr>
          <a:xfrm>
            <a:off x="12097512" y="5669280"/>
            <a:ext cx="128016" cy="594360"/>
          </a:xfrm>
          <a:prstGeom prst="rect">
            <a:avLst/>
          </a:prstGeom>
          <a:solidFill>
            <a:srgbClr val="1C2A57"/>
          </a:solidFill>
          <a:ln/>
        </p:spPr>
      </p:sp>
      <p:sp>
        <p:nvSpPr>
          <p:cNvPr id="12" name="Shape 10"/>
          <p:cNvSpPr/>
          <p:nvPr/>
        </p:nvSpPr>
        <p:spPr>
          <a:xfrm>
            <a:off x="11786616" y="4846320"/>
            <a:ext cx="91440" cy="640080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13" name="Shape 11"/>
          <p:cNvSpPr/>
          <p:nvPr/>
        </p:nvSpPr>
        <p:spPr>
          <a:xfrm>
            <a:off x="11759184" y="4727448"/>
            <a:ext cx="146304" cy="146304"/>
          </a:xfrm>
          <a:prstGeom prst="triangle">
            <a:avLst/>
          </a:prstGeom>
          <a:solidFill>
            <a:srgbClr val="17C3B2"/>
          </a:solidFill>
          <a:ln/>
        </p:spPr>
      </p:sp>
      <p:sp>
        <p:nvSpPr>
          <p:cNvPr id="14" name="Shape 12"/>
          <p:cNvSpPr/>
          <p:nvPr/>
        </p:nvSpPr>
        <p:spPr>
          <a:xfrm>
            <a:off x="11744791" y="2714391"/>
            <a:ext cx="27432" cy="27432"/>
          </a:xfrm>
          <a:prstGeom prst="ellipse">
            <a:avLst/>
          </a:prstGeom>
          <a:solidFill>
            <a:srgbClr val="3A4A8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928015" y="5408576"/>
            <a:ext cx="27432" cy="27432"/>
          </a:xfrm>
          <a:prstGeom prst="ellipse">
            <a:avLst/>
          </a:prstGeom>
          <a:solidFill>
            <a:srgbClr val="3A4A8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707131" y="2241369"/>
            <a:ext cx="27432" cy="27432"/>
          </a:xfrm>
          <a:prstGeom prst="ellipse">
            <a:avLst/>
          </a:prstGeom>
          <a:solidFill>
            <a:srgbClr val="3A4A80"/>
          </a:solidFill>
          <a:ln/>
        </p:spPr>
      </p:sp>
      <p:sp>
        <p:nvSpPr>
          <p:cNvPr id="17" name="Shape 15"/>
          <p:cNvSpPr/>
          <p:nvPr/>
        </p:nvSpPr>
        <p:spPr>
          <a:xfrm>
            <a:off x="11759808" y="3631964"/>
            <a:ext cx="27432" cy="27432"/>
          </a:xfrm>
          <a:prstGeom prst="ellipse">
            <a:avLst/>
          </a:prstGeom>
          <a:solidFill>
            <a:srgbClr val="3A4A80"/>
          </a:solidFill>
          <a:ln/>
        </p:spPr>
      </p:sp>
      <p:sp>
        <p:nvSpPr>
          <p:cNvPr id="18" name="Shape 16"/>
          <p:cNvSpPr/>
          <p:nvPr/>
        </p:nvSpPr>
        <p:spPr>
          <a:xfrm>
            <a:off x="12048946" y="2503799"/>
            <a:ext cx="27432" cy="27432"/>
          </a:xfrm>
          <a:prstGeom prst="ellipse">
            <a:avLst/>
          </a:prstGeom>
          <a:solidFill>
            <a:srgbClr val="3A4A80"/>
          </a:solidFill>
          <a:ln/>
        </p:spPr>
      </p:sp>
      <p:sp>
        <p:nvSpPr>
          <p:cNvPr id="19" name="Shape 17"/>
          <p:cNvSpPr/>
          <p:nvPr/>
        </p:nvSpPr>
        <p:spPr>
          <a:xfrm>
            <a:off x="12095863" y="4216644"/>
            <a:ext cx="27432" cy="27432"/>
          </a:xfrm>
          <a:prstGeom prst="ellipse">
            <a:avLst/>
          </a:prstGeom>
          <a:solidFill>
            <a:srgbClr val="3A4A80"/>
          </a:solidFill>
          <a:ln/>
        </p:spPr>
      </p:sp>
      <p:sp>
        <p:nvSpPr>
          <p:cNvPr id="20" name="Shape 18"/>
          <p:cNvSpPr/>
          <p:nvPr/>
        </p:nvSpPr>
        <p:spPr>
          <a:xfrm>
            <a:off x="12058415" y="2989943"/>
            <a:ext cx="27432" cy="27432"/>
          </a:xfrm>
          <a:prstGeom prst="ellipse">
            <a:avLst/>
          </a:prstGeom>
          <a:solidFill>
            <a:srgbClr val="3A4A80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43263" y="4444105"/>
            <a:ext cx="27432" cy="27432"/>
          </a:xfrm>
          <a:prstGeom prst="ellipse">
            <a:avLst/>
          </a:prstGeom>
          <a:solidFill>
            <a:srgbClr val="3A4A80"/>
          </a:solidFill>
          <a:ln/>
        </p:spPr>
      </p:sp>
      <p:sp>
        <p:nvSpPr>
          <p:cNvPr id="22" name="Text 20"/>
          <p:cNvSpPr/>
          <p:nvPr/>
        </p:nvSpPr>
        <p:spPr>
          <a:xfrm>
            <a:off x="11457432" y="6419088"/>
            <a:ext cx="75255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i="1" dirty="0">
                <a:solidFill>
                  <a:srgbClr val="AE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décisions plus sûres.</a:t>
            </a:r>
            <a:endParaRPr lang="en-US" sz="7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00" i="1" dirty="0">
                <a:solidFill>
                  <a:srgbClr val="AE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banque plus forte.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65760" y="320040"/>
            <a:ext cx="868680" cy="8686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621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1617" y="545897"/>
            <a:ext cx="416966" cy="41696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5" name="Text 23"/>
          <p:cNvSpPr/>
          <p:nvPr/>
        </p:nvSpPr>
        <p:spPr>
          <a:xfrm>
            <a:off x="1417320" y="2926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BankShield AI</a:t>
            </a:r>
            <a:endParaRPr lang="en-US" sz="2500" dirty="0"/>
          </a:p>
        </p:txBody>
      </p:sp>
      <p:sp>
        <p:nvSpPr>
          <p:cNvPr id="26" name="Text 24"/>
          <p:cNvSpPr/>
          <p:nvPr/>
        </p:nvSpPr>
        <p:spPr>
          <a:xfrm>
            <a:off x="1435608" y="7498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VEILLE ANTI-FRAUDE &amp; AML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435608" y="99669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 au service d'un secteur bancaire plus sûr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212080" y="292608"/>
            <a:ext cx="6126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162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 UN SYSTÈME BANCAIRE
</a:t>
            </a:r>
            <a:pPr algn="r"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2F6F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 SÛR ET PLUS RÉACTIF</a:t>
            </a:r>
            <a:endParaRPr lang="en-US" sz="2300" dirty="0"/>
          </a:p>
        </p:txBody>
      </p:sp>
      <p:sp>
        <p:nvSpPr>
          <p:cNvPr id="29" name="Shape 27"/>
          <p:cNvSpPr/>
          <p:nvPr/>
        </p:nvSpPr>
        <p:spPr>
          <a:xfrm>
            <a:off x="365760" y="1536192"/>
            <a:ext cx="4617720" cy="365760"/>
          </a:xfrm>
          <a:prstGeom prst="roundRect">
            <a:avLst>
              <a:gd name="adj" fmla="val 50000"/>
            </a:avLst>
          </a:prstGeom>
          <a:solidFill>
            <a:srgbClr val="E7EEFC"/>
          </a:solidFill>
          <a:ln w="12700">
            <a:solidFill>
              <a:srgbClr val="C7D6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0352" y="1696212"/>
            <a:ext cx="82296" cy="822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" y="153619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 FRAUDE  ·  SCORING TEMPS RÉEL  ·  IA EXPLICABLE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5760" y="1993392"/>
            <a:ext cx="4846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Système Intelligent</a:t>
            </a:r>
            <a:endParaRPr lang="en-US" sz="2700" dirty="0"/>
          </a:p>
        </p:txBody>
      </p:sp>
      <p:sp>
        <p:nvSpPr>
          <p:cNvPr id="33" name="Text 31"/>
          <p:cNvSpPr/>
          <p:nvPr/>
        </p:nvSpPr>
        <p:spPr>
          <a:xfrm>
            <a:off x="365760" y="243230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6F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Anti-Fraude Bancaire (AML)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65760" y="2862072"/>
            <a:ext cx="4800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scoring et de diagnostic IA pour détecter les opérations bancaires inhabituelles — Smart Automation Challenge, Sujet 6.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3520440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4F5"/>
            </a:solidFill>
            <a:prstDash val="solid"/>
          </a:ln>
          <a:effectLst>
            <a:outerShdw sx="100000" sy="100000" kx="0" ky="0" algn="bl" rotWithShape="0" blurRad="63500" dist="25400" dir="5400000">
              <a:srgbClr val="9AAAD1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93776" y="364845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" y="36484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96112" y="3520440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hybride — 12 règles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834640" y="3520440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4F5"/>
            </a:solidFill>
            <a:prstDash val="solid"/>
          </a:ln>
          <a:effectLst>
            <a:outerShdw sx="100000" sy="100000" kx="0" ky="0" algn="bl" rotWithShape="0" blurRad="63500" dist="25400" dir="5400000">
              <a:srgbClr val="9AAAD1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962656" y="3648456"/>
            <a:ext cx="310896" cy="310896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41" name="Text 39"/>
          <p:cNvSpPr/>
          <p:nvPr/>
        </p:nvSpPr>
        <p:spPr>
          <a:xfrm>
            <a:off x="2962656" y="36484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364992" y="3520440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IA explicable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65760" y="4224528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4F5"/>
            </a:solidFill>
            <a:prstDash val="solid"/>
          </a:ln>
          <a:effectLst>
            <a:outerShdw sx="100000" sy="100000" kx="0" ky="0" algn="bl" rotWithShape="0" blurRad="63500" dist="25400" dir="5400000">
              <a:srgbClr val="9AAAD1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93776" y="4352544"/>
            <a:ext cx="310896" cy="310896"/>
          </a:xfrm>
          <a:prstGeom prst="ellipse">
            <a:avLst/>
          </a:prstGeom>
          <a:solidFill>
            <a:srgbClr val="16215A"/>
          </a:solidFill>
          <a:ln/>
        </p:spPr>
      </p:sp>
      <p:sp>
        <p:nvSpPr>
          <p:cNvPr id="45" name="Text 43"/>
          <p:cNvSpPr/>
          <p:nvPr/>
        </p:nvSpPr>
        <p:spPr>
          <a:xfrm>
            <a:off x="493776" y="43525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96112" y="4224528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Supabase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834640" y="4224528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4F5"/>
            </a:solidFill>
            <a:prstDash val="solid"/>
          </a:ln>
          <a:effectLst>
            <a:outerShdw sx="100000" sy="100000" kx="0" ky="0" algn="bl" rotWithShape="0" blurRad="63500" dist="25400" dir="5400000">
              <a:srgbClr val="9AAAD1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962656" y="4352544"/>
            <a:ext cx="310896" cy="31089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49" name="Text 47"/>
          <p:cNvSpPr/>
          <p:nvPr/>
        </p:nvSpPr>
        <p:spPr>
          <a:xfrm>
            <a:off x="2962656" y="43525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364992" y="4224528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live &amp; alertes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65760" y="4937760"/>
            <a:ext cx="10972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501091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500ms</a:t>
            </a:r>
            <a:endParaRPr lang="en-US" sz="1700" dirty="0"/>
          </a:p>
        </p:txBody>
      </p:sp>
      <p:sp>
        <p:nvSpPr>
          <p:cNvPr id="53" name="Text 51"/>
          <p:cNvSpPr/>
          <p:nvPr/>
        </p:nvSpPr>
        <p:spPr>
          <a:xfrm>
            <a:off x="411480" y="537667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de décision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581912" y="4937760"/>
            <a:ext cx="10972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581912" y="501091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700" dirty="0"/>
          </a:p>
        </p:txBody>
      </p:sp>
      <p:sp>
        <p:nvSpPr>
          <p:cNvPr id="56" name="Text 54"/>
          <p:cNvSpPr/>
          <p:nvPr/>
        </p:nvSpPr>
        <p:spPr>
          <a:xfrm>
            <a:off x="1627632" y="537667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AML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798064" y="4937760"/>
            <a:ext cx="10972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98064" y="501091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700" dirty="0"/>
          </a:p>
        </p:txBody>
      </p:sp>
      <p:sp>
        <p:nvSpPr>
          <p:cNvPr id="59" name="Text 57"/>
          <p:cNvSpPr/>
          <p:nvPr/>
        </p:nvSpPr>
        <p:spPr>
          <a:xfrm>
            <a:off x="2843784" y="537667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suivis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014216" y="4937760"/>
            <a:ext cx="10972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014216" y="501091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0–100</a:t>
            </a:r>
            <a:endParaRPr lang="en-US" sz="1700" dirty="0"/>
          </a:p>
        </p:txBody>
      </p:sp>
      <p:sp>
        <p:nvSpPr>
          <p:cNvPr id="62" name="Text 60"/>
          <p:cNvSpPr/>
          <p:nvPr/>
        </p:nvSpPr>
        <p:spPr>
          <a:xfrm>
            <a:off x="4059936" y="537667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risque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486400" y="1572768"/>
            <a:ext cx="580644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5A6FA8">
                <a:alpha val="35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5486400" y="1572768"/>
            <a:ext cx="5806440" cy="310896"/>
          </a:xfrm>
          <a:prstGeom prst="roundRect">
            <a:avLst>
              <a:gd name="adj" fmla="val 26471"/>
            </a:avLst>
          </a:prstGeom>
          <a:solidFill>
            <a:srgbClr val="0F1830"/>
          </a:solidFill>
          <a:ln/>
        </p:spPr>
      </p:sp>
      <p:sp>
        <p:nvSpPr>
          <p:cNvPr id="65" name="Shape 63"/>
          <p:cNvSpPr/>
          <p:nvPr/>
        </p:nvSpPr>
        <p:spPr>
          <a:xfrm>
            <a:off x="5486400" y="1728216"/>
            <a:ext cx="5806440" cy="155448"/>
          </a:xfrm>
          <a:prstGeom prst="rect">
            <a:avLst/>
          </a:prstGeom>
          <a:solidFill>
            <a:srgbClr val="0F1830"/>
          </a:solidFill>
          <a:ln/>
        </p:spPr>
      </p:sp>
      <p:sp>
        <p:nvSpPr>
          <p:cNvPr id="66" name="Shape 64"/>
          <p:cNvSpPr/>
          <p:nvPr/>
        </p:nvSpPr>
        <p:spPr>
          <a:xfrm>
            <a:off x="5614416" y="1677924"/>
            <a:ext cx="100584" cy="10058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67" name="Shape 65"/>
          <p:cNvSpPr/>
          <p:nvPr/>
        </p:nvSpPr>
        <p:spPr>
          <a:xfrm>
            <a:off x="5760720" y="1677924"/>
            <a:ext cx="100584" cy="100584"/>
          </a:xfrm>
          <a:prstGeom prst="ellipse">
            <a:avLst/>
          </a:prstGeom>
          <a:solidFill>
            <a:srgbClr val="F2B441"/>
          </a:solidFill>
          <a:ln/>
        </p:spPr>
      </p:sp>
      <p:sp>
        <p:nvSpPr>
          <p:cNvPr id="68" name="Shape 66"/>
          <p:cNvSpPr/>
          <p:nvPr/>
        </p:nvSpPr>
        <p:spPr>
          <a:xfrm>
            <a:off x="5907024" y="1677924"/>
            <a:ext cx="100584" cy="100584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69" name="Shape 67"/>
          <p:cNvSpPr/>
          <p:nvPr/>
        </p:nvSpPr>
        <p:spPr>
          <a:xfrm>
            <a:off x="7383780" y="1632204"/>
            <a:ext cx="2011680" cy="192024"/>
          </a:xfrm>
          <a:prstGeom prst="roundRect">
            <a:avLst>
              <a:gd name="adj" fmla="val 47619"/>
            </a:avLst>
          </a:prstGeom>
          <a:solidFill>
            <a:srgbClr val="1E2A55"/>
          </a:solidFill>
          <a:ln/>
        </p:spPr>
      </p:sp>
      <p:sp>
        <p:nvSpPr>
          <p:cNvPr id="70" name="Text 68"/>
          <p:cNvSpPr/>
          <p:nvPr/>
        </p:nvSpPr>
        <p:spPr>
          <a:xfrm>
            <a:off x="7383780" y="1632204"/>
            <a:ext cx="20116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5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bankshield.ai/dashboard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5486400" y="1883664"/>
            <a:ext cx="5806440" cy="4123944"/>
          </a:xfrm>
          <a:prstGeom prst="rect">
            <a:avLst/>
          </a:prstGeom>
          <a:solidFill>
            <a:srgbClr val="FAFBFF"/>
          </a:solidFill>
          <a:ln/>
        </p:spPr>
      </p:sp>
      <p:sp>
        <p:nvSpPr>
          <p:cNvPr id="72" name="Shape 70"/>
          <p:cNvSpPr/>
          <p:nvPr/>
        </p:nvSpPr>
        <p:spPr>
          <a:xfrm>
            <a:off x="5486400" y="1883664"/>
            <a:ext cx="960120" cy="4123944"/>
          </a:xfrm>
          <a:prstGeom prst="rect">
            <a:avLst/>
          </a:prstGeom>
          <a:solidFill>
            <a:srgbClr val="F1F4FC"/>
          </a:solidFill>
          <a:ln/>
        </p:spPr>
      </p:sp>
      <p:sp>
        <p:nvSpPr>
          <p:cNvPr id="73" name="Shape 71"/>
          <p:cNvSpPr/>
          <p:nvPr/>
        </p:nvSpPr>
        <p:spPr>
          <a:xfrm>
            <a:off x="5541264" y="2020824"/>
            <a:ext cx="850392" cy="256032"/>
          </a:xfrm>
          <a:prstGeom prst="roundRect">
            <a:avLst>
              <a:gd name="adj" fmla="val 17857"/>
            </a:avLst>
          </a:prstGeom>
          <a:solidFill>
            <a:srgbClr val="E7EEFC"/>
          </a:solidFill>
          <a:ln/>
        </p:spPr>
      </p:sp>
      <p:sp>
        <p:nvSpPr>
          <p:cNvPr id="74" name="Shape 72"/>
          <p:cNvSpPr/>
          <p:nvPr/>
        </p:nvSpPr>
        <p:spPr>
          <a:xfrm>
            <a:off x="5605272" y="2103120"/>
            <a:ext cx="82296" cy="82296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75" name="Text 73"/>
          <p:cNvSpPr/>
          <p:nvPr/>
        </p:nvSpPr>
        <p:spPr>
          <a:xfrm>
            <a:off x="5742432" y="2011680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162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</a:t>
            </a:r>
            <a:endParaRPr lang="en-US" sz="630" dirty="0"/>
          </a:p>
        </p:txBody>
      </p:sp>
      <p:sp>
        <p:nvSpPr>
          <p:cNvPr id="76" name="Shape 74"/>
          <p:cNvSpPr/>
          <p:nvPr/>
        </p:nvSpPr>
        <p:spPr>
          <a:xfrm>
            <a:off x="5605272" y="2432304"/>
            <a:ext cx="82296" cy="82296"/>
          </a:xfrm>
          <a:prstGeom prst="ellipse">
            <a:avLst/>
          </a:prstGeom>
          <a:solidFill>
            <a:srgbClr val="B7C2E0"/>
          </a:solidFill>
          <a:ln/>
        </p:spPr>
      </p:sp>
      <p:sp>
        <p:nvSpPr>
          <p:cNvPr id="77" name="Text 75"/>
          <p:cNvSpPr/>
          <p:nvPr/>
        </p:nvSpPr>
        <p:spPr>
          <a:xfrm>
            <a:off x="5742432" y="2340864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85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</a:t>
            </a:r>
            <a:endParaRPr lang="en-US" sz="630" dirty="0"/>
          </a:p>
        </p:txBody>
      </p:sp>
      <p:sp>
        <p:nvSpPr>
          <p:cNvPr id="78" name="Shape 76"/>
          <p:cNvSpPr/>
          <p:nvPr/>
        </p:nvSpPr>
        <p:spPr>
          <a:xfrm>
            <a:off x="5605272" y="2761488"/>
            <a:ext cx="82296" cy="82296"/>
          </a:xfrm>
          <a:prstGeom prst="ellipse">
            <a:avLst/>
          </a:prstGeom>
          <a:solidFill>
            <a:srgbClr val="B7C2E0"/>
          </a:solidFill>
          <a:ln/>
        </p:spPr>
      </p:sp>
      <p:sp>
        <p:nvSpPr>
          <p:cNvPr id="79" name="Text 77"/>
          <p:cNvSpPr/>
          <p:nvPr/>
        </p:nvSpPr>
        <p:spPr>
          <a:xfrm>
            <a:off x="5742432" y="2670048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85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630" dirty="0"/>
          </a:p>
        </p:txBody>
      </p:sp>
      <p:sp>
        <p:nvSpPr>
          <p:cNvPr id="80" name="Shape 78"/>
          <p:cNvSpPr/>
          <p:nvPr/>
        </p:nvSpPr>
        <p:spPr>
          <a:xfrm>
            <a:off x="5605272" y="3090672"/>
            <a:ext cx="82296" cy="82296"/>
          </a:xfrm>
          <a:prstGeom prst="ellipse">
            <a:avLst/>
          </a:prstGeom>
          <a:solidFill>
            <a:srgbClr val="B7C2E0"/>
          </a:solidFill>
          <a:ln/>
        </p:spPr>
      </p:sp>
      <p:sp>
        <p:nvSpPr>
          <p:cNvPr id="81" name="Text 79"/>
          <p:cNvSpPr/>
          <p:nvPr/>
        </p:nvSpPr>
        <p:spPr>
          <a:xfrm>
            <a:off x="5742432" y="2999232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85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630" dirty="0"/>
          </a:p>
        </p:txBody>
      </p:sp>
      <p:sp>
        <p:nvSpPr>
          <p:cNvPr id="82" name="Shape 80"/>
          <p:cNvSpPr/>
          <p:nvPr/>
        </p:nvSpPr>
        <p:spPr>
          <a:xfrm>
            <a:off x="5605272" y="3419856"/>
            <a:ext cx="82296" cy="82296"/>
          </a:xfrm>
          <a:prstGeom prst="ellipse">
            <a:avLst/>
          </a:prstGeom>
          <a:solidFill>
            <a:srgbClr val="B7C2E0"/>
          </a:solidFill>
          <a:ln/>
        </p:spPr>
      </p:sp>
      <p:sp>
        <p:nvSpPr>
          <p:cNvPr id="83" name="Text 81"/>
          <p:cNvSpPr/>
          <p:nvPr/>
        </p:nvSpPr>
        <p:spPr>
          <a:xfrm>
            <a:off x="5742432" y="3328416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85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AML</a:t>
            </a:r>
            <a:endParaRPr lang="en-US" sz="630" dirty="0"/>
          </a:p>
        </p:txBody>
      </p:sp>
      <p:sp>
        <p:nvSpPr>
          <p:cNvPr id="84" name="Shape 82"/>
          <p:cNvSpPr/>
          <p:nvPr/>
        </p:nvSpPr>
        <p:spPr>
          <a:xfrm>
            <a:off x="5605272" y="3749040"/>
            <a:ext cx="82296" cy="82296"/>
          </a:xfrm>
          <a:prstGeom prst="ellipse">
            <a:avLst/>
          </a:prstGeom>
          <a:solidFill>
            <a:srgbClr val="B7C2E0"/>
          </a:solidFill>
          <a:ln/>
        </p:spPr>
      </p:sp>
      <p:sp>
        <p:nvSpPr>
          <p:cNvPr id="85" name="Text 83"/>
          <p:cNvSpPr/>
          <p:nvPr/>
        </p:nvSpPr>
        <p:spPr>
          <a:xfrm>
            <a:off x="5742432" y="3657600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85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</a:t>
            </a:r>
            <a:endParaRPr lang="en-US" sz="630" dirty="0"/>
          </a:p>
        </p:txBody>
      </p:sp>
      <p:sp>
        <p:nvSpPr>
          <p:cNvPr id="86" name="Text 84"/>
          <p:cNvSpPr/>
          <p:nvPr/>
        </p:nvSpPr>
        <p:spPr>
          <a:xfrm>
            <a:off x="6556248" y="1975104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BankShield AI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7790688" y="1993392"/>
            <a:ext cx="777240" cy="201168"/>
          </a:xfrm>
          <a:prstGeom prst="roundRect">
            <a:avLst>
              <a:gd name="adj" fmla="val 27273"/>
            </a:avLst>
          </a:prstGeom>
          <a:solidFill>
            <a:srgbClr val="E7EEFC"/>
          </a:solidFill>
          <a:ln/>
        </p:spPr>
      </p:sp>
      <p:sp>
        <p:nvSpPr>
          <p:cNvPr id="88" name="Text 86"/>
          <p:cNvSpPr/>
          <p:nvPr/>
        </p:nvSpPr>
        <p:spPr>
          <a:xfrm>
            <a:off x="7790688" y="199339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630" dirty="0"/>
          </a:p>
        </p:txBody>
      </p:sp>
      <p:sp>
        <p:nvSpPr>
          <p:cNvPr id="89" name="Shape 87"/>
          <p:cNvSpPr/>
          <p:nvPr/>
        </p:nvSpPr>
        <p:spPr>
          <a:xfrm>
            <a:off x="8897112" y="1975104"/>
            <a:ext cx="1737360" cy="237744"/>
          </a:xfrm>
          <a:prstGeom prst="roundRect">
            <a:avLst>
              <a:gd name="adj" fmla="val 23077"/>
            </a:avLst>
          </a:prstGeom>
          <a:solidFill>
            <a:srgbClr val="F1F4FC"/>
          </a:solidFill>
          <a:ln w="6350">
            <a:solidFill>
              <a:srgbClr val="DCE4F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988552" y="1975104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A6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Rechercher un client, transaction...</a:t>
            </a:r>
            <a:endParaRPr lang="en-US" sz="600" dirty="0"/>
          </a:p>
        </p:txBody>
      </p:sp>
      <p:sp>
        <p:nvSpPr>
          <p:cNvPr id="91" name="Shape 89"/>
          <p:cNvSpPr/>
          <p:nvPr/>
        </p:nvSpPr>
        <p:spPr>
          <a:xfrm>
            <a:off x="10771632" y="1975104"/>
            <a:ext cx="237744" cy="237744"/>
          </a:xfrm>
          <a:prstGeom prst="ellipse">
            <a:avLst/>
          </a:prstGeom>
          <a:solidFill>
            <a:srgbClr val="16215A"/>
          </a:solidFill>
          <a:ln/>
        </p:spPr>
      </p:sp>
      <p:sp>
        <p:nvSpPr>
          <p:cNvPr id="92" name="Text 90"/>
          <p:cNvSpPr/>
          <p:nvPr/>
        </p:nvSpPr>
        <p:spPr>
          <a:xfrm>
            <a:off x="10771632" y="197510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</a:t>
            </a:r>
            <a:endParaRPr lang="en-US" sz="650" dirty="0"/>
          </a:p>
        </p:txBody>
      </p:sp>
      <p:sp>
        <p:nvSpPr>
          <p:cNvPr id="93" name="Shape 91"/>
          <p:cNvSpPr/>
          <p:nvPr/>
        </p:nvSpPr>
        <p:spPr>
          <a:xfrm>
            <a:off x="6556248" y="2340864"/>
            <a:ext cx="1088136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E4E9F7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629400" y="2377440"/>
            <a:ext cx="941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1200" dirty="0"/>
          </a:p>
        </p:txBody>
      </p:sp>
      <p:sp>
        <p:nvSpPr>
          <p:cNvPr id="95" name="Text 93"/>
          <p:cNvSpPr/>
          <p:nvPr/>
        </p:nvSpPr>
        <p:spPr>
          <a:xfrm>
            <a:off x="6629400" y="2633472"/>
            <a:ext cx="941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70" dirty="0">
                <a:solidFill>
                  <a:srgbClr val="85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analysé</a:t>
            </a:r>
            <a:endParaRPr lang="en-US" sz="570" dirty="0"/>
          </a:p>
        </p:txBody>
      </p:sp>
      <p:sp>
        <p:nvSpPr>
          <p:cNvPr id="96" name="Shape 94"/>
          <p:cNvSpPr/>
          <p:nvPr/>
        </p:nvSpPr>
        <p:spPr>
          <a:xfrm>
            <a:off x="7735824" y="2340864"/>
            <a:ext cx="1088136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E4E9F7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808976" y="2377440"/>
            <a:ext cx="941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7.0%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7808976" y="2633472"/>
            <a:ext cx="941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70" dirty="0">
                <a:solidFill>
                  <a:srgbClr val="85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d'anomalies</a:t>
            </a:r>
            <a:endParaRPr lang="en-US" sz="570" dirty="0"/>
          </a:p>
        </p:txBody>
      </p:sp>
      <p:sp>
        <p:nvSpPr>
          <p:cNvPr id="99" name="Shape 97"/>
          <p:cNvSpPr/>
          <p:nvPr/>
        </p:nvSpPr>
        <p:spPr>
          <a:xfrm>
            <a:off x="8915400" y="2340864"/>
            <a:ext cx="1088136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E4E9F7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988552" y="2377440"/>
            <a:ext cx="941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01" name="Text 99"/>
          <p:cNvSpPr/>
          <p:nvPr/>
        </p:nvSpPr>
        <p:spPr>
          <a:xfrm>
            <a:off x="8988552" y="2633472"/>
            <a:ext cx="941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70" dirty="0">
                <a:solidFill>
                  <a:srgbClr val="85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critiques</a:t>
            </a:r>
            <a:endParaRPr lang="en-US" sz="570" dirty="0"/>
          </a:p>
        </p:txBody>
      </p:sp>
      <p:sp>
        <p:nvSpPr>
          <p:cNvPr id="102" name="Shape 100"/>
          <p:cNvSpPr/>
          <p:nvPr/>
        </p:nvSpPr>
        <p:spPr>
          <a:xfrm>
            <a:off x="10094976" y="2340864"/>
            <a:ext cx="1088136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E4E9F7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0168128" y="2377440"/>
            <a:ext cx="941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2.3s</a:t>
            </a:r>
            <a:endParaRPr lang="en-US" sz="1200" dirty="0"/>
          </a:p>
        </p:txBody>
      </p:sp>
      <p:sp>
        <p:nvSpPr>
          <p:cNvPr id="104" name="Text 102"/>
          <p:cNvSpPr/>
          <p:nvPr/>
        </p:nvSpPr>
        <p:spPr>
          <a:xfrm>
            <a:off x="10168128" y="2633472"/>
            <a:ext cx="941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70" dirty="0">
                <a:solidFill>
                  <a:srgbClr val="85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moyen</a:t>
            </a:r>
            <a:endParaRPr lang="en-US" sz="570" dirty="0"/>
          </a:p>
        </p:txBody>
      </p:sp>
      <p:sp>
        <p:nvSpPr>
          <p:cNvPr id="105" name="Shape 103"/>
          <p:cNvSpPr/>
          <p:nvPr/>
        </p:nvSpPr>
        <p:spPr>
          <a:xfrm>
            <a:off x="6556248" y="2980944"/>
            <a:ext cx="2591044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4E9F7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647688" y="3035808"/>
            <a:ext cx="24081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62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des scores</a:t>
            </a:r>
            <a:endParaRPr lang="en-US" sz="650" dirty="0"/>
          </a:p>
        </p:txBody>
      </p:sp>
      <p:sp>
        <p:nvSpPr>
          <p:cNvPr id="107" name="Shape 105"/>
          <p:cNvSpPr/>
          <p:nvPr/>
        </p:nvSpPr>
        <p:spPr>
          <a:xfrm flipV="1">
            <a:off x="6693408" y="3689604"/>
            <a:ext cx="289590" cy="128016"/>
          </a:xfrm>
          <a:prstGeom prst="line">
            <a:avLst/>
          </a:prstGeom>
          <a:noFill/>
          <a:ln w="19050">
            <a:solidFill>
              <a:srgbClr val="2F6FED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982998" y="3689604"/>
            <a:ext cx="289590" cy="44806"/>
          </a:xfrm>
          <a:prstGeom prst="line">
            <a:avLst/>
          </a:prstGeom>
          <a:noFill/>
          <a:ln w="19050">
            <a:solidFill>
              <a:srgbClr val="2F6FED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V="1">
            <a:off x="7272589" y="3561588"/>
            <a:ext cx="289590" cy="172822"/>
          </a:xfrm>
          <a:prstGeom prst="line">
            <a:avLst/>
          </a:prstGeom>
          <a:noFill/>
          <a:ln w="19050">
            <a:solidFill>
              <a:srgbClr val="2F6FED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flipV="1">
            <a:off x="7562179" y="3337560"/>
            <a:ext cx="289590" cy="224028"/>
          </a:xfrm>
          <a:prstGeom prst="line">
            <a:avLst/>
          </a:prstGeom>
          <a:noFill/>
          <a:ln w="19050">
            <a:solidFill>
              <a:srgbClr val="2F6FED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851770" y="3337560"/>
            <a:ext cx="289590" cy="256032"/>
          </a:xfrm>
          <a:prstGeom prst="line">
            <a:avLst/>
          </a:prstGeom>
          <a:noFill/>
          <a:ln w="19050">
            <a:solidFill>
              <a:srgbClr val="2F6FED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141360" y="3593592"/>
            <a:ext cx="289590" cy="128016"/>
          </a:xfrm>
          <a:prstGeom prst="line">
            <a:avLst/>
          </a:prstGeom>
          <a:noFill/>
          <a:ln w="19050">
            <a:solidFill>
              <a:srgbClr val="2F6FED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flipV="1">
            <a:off x="8430951" y="3529584"/>
            <a:ext cx="289590" cy="192024"/>
          </a:xfrm>
          <a:prstGeom prst="line">
            <a:avLst/>
          </a:prstGeom>
          <a:noFill/>
          <a:ln w="19050">
            <a:solidFill>
              <a:srgbClr val="2F6FED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720541" y="3529584"/>
            <a:ext cx="289590" cy="128016"/>
          </a:xfrm>
          <a:prstGeom prst="line">
            <a:avLst/>
          </a:prstGeom>
          <a:noFill/>
          <a:ln w="19050">
            <a:solidFill>
              <a:srgbClr val="2F6FED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9284452" y="2980944"/>
            <a:ext cx="189866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4E9F7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9375892" y="3035808"/>
            <a:ext cx="17157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62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des risques</a:t>
            </a:r>
            <a:endParaRPr lang="en-US" sz="650" dirty="0"/>
          </a:p>
        </p:txBody>
      </p:sp>
      <p:sp>
        <p:nvSpPr>
          <p:cNvPr id="117" name="Shape 115"/>
          <p:cNvSpPr/>
          <p:nvPr/>
        </p:nvSpPr>
        <p:spPr>
          <a:xfrm>
            <a:off x="9375892" y="3300984"/>
            <a:ext cx="640080" cy="640080"/>
          </a:xfrm>
          <a:prstGeom prst="pie">
            <a:avLst/>
          </a:prstGeom>
          <a:noFill/>
          <a:ln/>
        </p:spPr>
      </p:sp>
      <p:sp>
        <p:nvSpPr>
          <p:cNvPr id="118" name="Shape 116"/>
          <p:cNvSpPr/>
          <p:nvPr/>
        </p:nvSpPr>
        <p:spPr>
          <a:xfrm>
            <a:off x="6556248" y="4142232"/>
            <a:ext cx="4626864" cy="1792224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9525">
            <a:solidFill>
              <a:srgbClr val="E4E9F7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647688" y="4187952"/>
            <a:ext cx="44439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62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récentes  (Score ≥ 66)</a:t>
            </a:r>
            <a:endParaRPr lang="en-US" sz="650" dirty="0"/>
          </a:p>
        </p:txBody>
      </p:sp>
      <p:sp>
        <p:nvSpPr>
          <p:cNvPr id="120" name="Text 118"/>
          <p:cNvSpPr/>
          <p:nvPr/>
        </p:nvSpPr>
        <p:spPr>
          <a:xfrm>
            <a:off x="6648785" y="4379976"/>
            <a:ext cx="1280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70" b="1" dirty="0">
                <a:solidFill>
                  <a:srgbClr val="85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570" dirty="0"/>
          </a:p>
        </p:txBody>
      </p:sp>
      <p:sp>
        <p:nvSpPr>
          <p:cNvPr id="121" name="Text 119"/>
          <p:cNvSpPr/>
          <p:nvPr/>
        </p:nvSpPr>
        <p:spPr>
          <a:xfrm>
            <a:off x="8221919" y="4379976"/>
            <a:ext cx="1280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70" b="1" dirty="0">
                <a:solidFill>
                  <a:srgbClr val="85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</a:t>
            </a:r>
            <a:endParaRPr lang="en-US" sz="570" dirty="0"/>
          </a:p>
        </p:txBody>
      </p:sp>
      <p:sp>
        <p:nvSpPr>
          <p:cNvPr id="122" name="Text 120"/>
          <p:cNvSpPr/>
          <p:nvPr/>
        </p:nvSpPr>
        <p:spPr>
          <a:xfrm>
            <a:off x="9101023" y="4379976"/>
            <a:ext cx="1280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70" b="1" dirty="0">
                <a:solidFill>
                  <a:srgbClr val="85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570" dirty="0"/>
          </a:p>
        </p:txBody>
      </p:sp>
      <p:sp>
        <p:nvSpPr>
          <p:cNvPr id="123" name="Text 121"/>
          <p:cNvSpPr/>
          <p:nvPr/>
        </p:nvSpPr>
        <p:spPr>
          <a:xfrm>
            <a:off x="9887590" y="4379976"/>
            <a:ext cx="1280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70" b="1" dirty="0">
                <a:solidFill>
                  <a:srgbClr val="85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570" dirty="0"/>
          </a:p>
        </p:txBody>
      </p:sp>
      <p:sp>
        <p:nvSpPr>
          <p:cNvPr id="124" name="Text 122"/>
          <p:cNvSpPr/>
          <p:nvPr/>
        </p:nvSpPr>
        <p:spPr>
          <a:xfrm>
            <a:off x="6648785" y="4572000"/>
            <a:ext cx="148059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62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Fatima Zahra Alami</a:t>
            </a:r>
            <a:endParaRPr lang="en-US" sz="600" dirty="0"/>
          </a:p>
        </p:txBody>
      </p:sp>
      <p:sp>
        <p:nvSpPr>
          <p:cNvPr id="125" name="Text 123"/>
          <p:cNvSpPr/>
          <p:nvPr/>
        </p:nvSpPr>
        <p:spPr>
          <a:xfrm>
            <a:off x="8221919" y="4572000"/>
            <a:ext cx="83283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62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4 600 MAD</a:t>
            </a:r>
            <a:endParaRPr lang="en-US" sz="600" dirty="0"/>
          </a:p>
        </p:txBody>
      </p:sp>
      <p:sp>
        <p:nvSpPr>
          <p:cNvPr id="126" name="Text 124"/>
          <p:cNvSpPr/>
          <p:nvPr/>
        </p:nvSpPr>
        <p:spPr>
          <a:xfrm>
            <a:off x="9101023" y="4572000"/>
            <a:ext cx="69403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600" dirty="0"/>
          </a:p>
        </p:txBody>
      </p:sp>
      <p:sp>
        <p:nvSpPr>
          <p:cNvPr id="127" name="Shape 125"/>
          <p:cNvSpPr/>
          <p:nvPr/>
        </p:nvSpPr>
        <p:spPr>
          <a:xfrm>
            <a:off x="9887590" y="4576572"/>
            <a:ext cx="1110447" cy="146304"/>
          </a:xfrm>
          <a:prstGeom prst="roundRect">
            <a:avLst>
              <a:gd name="adj" fmla="val 31250"/>
            </a:avLst>
          </a:prstGeom>
          <a:solidFill>
            <a:srgbClr val="F2B441"/>
          </a:solidFill>
          <a:ln/>
        </p:spPr>
      </p:sp>
      <p:sp>
        <p:nvSpPr>
          <p:cNvPr id="128" name="Text 126"/>
          <p:cNvSpPr/>
          <p:nvPr/>
        </p:nvSpPr>
        <p:spPr>
          <a:xfrm>
            <a:off x="9887590" y="4576572"/>
            <a:ext cx="1110447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</a:t>
            </a:r>
            <a:endParaRPr lang="en-US" sz="530" dirty="0"/>
          </a:p>
        </p:txBody>
      </p:sp>
      <p:sp>
        <p:nvSpPr>
          <p:cNvPr id="129" name="Text 127"/>
          <p:cNvSpPr/>
          <p:nvPr/>
        </p:nvSpPr>
        <p:spPr>
          <a:xfrm>
            <a:off x="6648785" y="4782312"/>
            <a:ext cx="148059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62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Tariq Filali</a:t>
            </a:r>
            <a:endParaRPr lang="en-US" sz="600" dirty="0"/>
          </a:p>
        </p:txBody>
      </p:sp>
      <p:sp>
        <p:nvSpPr>
          <p:cNvPr id="130" name="Text 128"/>
          <p:cNvSpPr/>
          <p:nvPr/>
        </p:nvSpPr>
        <p:spPr>
          <a:xfrm>
            <a:off x="8221919" y="4782312"/>
            <a:ext cx="83283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62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8 000 MAD</a:t>
            </a:r>
            <a:endParaRPr lang="en-US" sz="600" dirty="0"/>
          </a:p>
        </p:txBody>
      </p:sp>
      <p:sp>
        <p:nvSpPr>
          <p:cNvPr id="131" name="Text 129"/>
          <p:cNvSpPr/>
          <p:nvPr/>
        </p:nvSpPr>
        <p:spPr>
          <a:xfrm>
            <a:off x="9101023" y="4782312"/>
            <a:ext cx="69403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600" dirty="0"/>
          </a:p>
        </p:txBody>
      </p:sp>
      <p:sp>
        <p:nvSpPr>
          <p:cNvPr id="132" name="Shape 130"/>
          <p:cNvSpPr/>
          <p:nvPr/>
        </p:nvSpPr>
        <p:spPr>
          <a:xfrm>
            <a:off x="9887590" y="4786884"/>
            <a:ext cx="1110447" cy="146304"/>
          </a:xfrm>
          <a:prstGeom prst="roundRect">
            <a:avLst>
              <a:gd name="adj" fmla="val 31250"/>
            </a:avLst>
          </a:prstGeom>
          <a:solidFill>
            <a:srgbClr val="E4572E"/>
          </a:solidFill>
          <a:ln/>
        </p:spPr>
      </p:sp>
      <p:sp>
        <p:nvSpPr>
          <p:cNvPr id="133" name="Text 131"/>
          <p:cNvSpPr/>
          <p:nvPr/>
        </p:nvSpPr>
        <p:spPr>
          <a:xfrm>
            <a:off x="9887590" y="4786884"/>
            <a:ext cx="1110447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530" dirty="0"/>
          </a:p>
        </p:txBody>
      </p:sp>
      <p:sp>
        <p:nvSpPr>
          <p:cNvPr id="134" name="Text 132"/>
          <p:cNvSpPr/>
          <p:nvPr/>
        </p:nvSpPr>
        <p:spPr>
          <a:xfrm>
            <a:off x="6648785" y="4992624"/>
            <a:ext cx="148059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62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Karim Tazi</a:t>
            </a:r>
            <a:endParaRPr lang="en-US" sz="600" dirty="0"/>
          </a:p>
        </p:txBody>
      </p:sp>
      <p:sp>
        <p:nvSpPr>
          <p:cNvPr id="135" name="Text 133"/>
          <p:cNvSpPr/>
          <p:nvPr/>
        </p:nvSpPr>
        <p:spPr>
          <a:xfrm>
            <a:off x="8221919" y="4992624"/>
            <a:ext cx="83283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62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14 800 EUR</a:t>
            </a:r>
            <a:endParaRPr lang="en-US" sz="600" dirty="0"/>
          </a:p>
        </p:txBody>
      </p:sp>
      <p:sp>
        <p:nvSpPr>
          <p:cNvPr id="136" name="Text 134"/>
          <p:cNvSpPr/>
          <p:nvPr/>
        </p:nvSpPr>
        <p:spPr>
          <a:xfrm>
            <a:off x="9101023" y="4992624"/>
            <a:ext cx="69403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600" dirty="0"/>
          </a:p>
        </p:txBody>
      </p:sp>
      <p:sp>
        <p:nvSpPr>
          <p:cNvPr id="137" name="Shape 135"/>
          <p:cNvSpPr/>
          <p:nvPr/>
        </p:nvSpPr>
        <p:spPr>
          <a:xfrm>
            <a:off x="9887590" y="4997196"/>
            <a:ext cx="1110447" cy="146304"/>
          </a:xfrm>
          <a:prstGeom prst="roundRect">
            <a:avLst>
              <a:gd name="adj" fmla="val 31250"/>
            </a:avLst>
          </a:prstGeom>
          <a:solidFill>
            <a:srgbClr val="E4572E"/>
          </a:solidFill>
          <a:ln/>
        </p:spPr>
      </p:sp>
      <p:sp>
        <p:nvSpPr>
          <p:cNvPr id="138" name="Text 136"/>
          <p:cNvSpPr/>
          <p:nvPr/>
        </p:nvSpPr>
        <p:spPr>
          <a:xfrm>
            <a:off x="9887590" y="4997196"/>
            <a:ext cx="1110447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530" dirty="0"/>
          </a:p>
        </p:txBody>
      </p:sp>
      <p:sp>
        <p:nvSpPr>
          <p:cNvPr id="139" name="Shape 137"/>
          <p:cNvSpPr/>
          <p:nvPr/>
        </p:nvSpPr>
        <p:spPr>
          <a:xfrm>
            <a:off x="365760" y="6035040"/>
            <a:ext cx="10881360" cy="0"/>
          </a:xfrm>
          <a:prstGeom prst="line">
            <a:avLst/>
          </a:prstGeom>
          <a:noFill/>
          <a:ln w="12700">
            <a:solidFill>
              <a:srgbClr val="D3DCF2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365760" y="60807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850" dirty="0"/>
          </a:p>
        </p:txBody>
      </p:sp>
      <p:sp>
        <p:nvSpPr>
          <p:cNvPr id="141" name="Shape 139"/>
          <p:cNvSpPr/>
          <p:nvPr/>
        </p:nvSpPr>
        <p:spPr>
          <a:xfrm>
            <a:off x="365760" y="6281928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16215A"/>
          </a:solidFill>
          <a:ln/>
        </p:spPr>
      </p:sp>
      <p:sp>
        <p:nvSpPr>
          <p:cNvPr id="142" name="Text 140"/>
          <p:cNvSpPr/>
          <p:nvPr/>
        </p:nvSpPr>
        <p:spPr>
          <a:xfrm>
            <a:off x="365760" y="62819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100" dirty="0"/>
          </a:p>
        </p:txBody>
      </p:sp>
      <p:sp>
        <p:nvSpPr>
          <p:cNvPr id="143" name="Text 141"/>
          <p:cNvSpPr/>
          <p:nvPr/>
        </p:nvSpPr>
        <p:spPr>
          <a:xfrm>
            <a:off x="713232" y="6263640"/>
            <a:ext cx="140817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2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AI</a:t>
            </a:r>
            <a:endParaRPr lang="en-US" sz="850" dirty="0"/>
          </a:p>
        </p:txBody>
      </p:sp>
      <p:sp>
        <p:nvSpPr>
          <p:cNvPr id="144" name="Text 142"/>
          <p:cNvSpPr/>
          <p:nvPr/>
        </p:nvSpPr>
        <p:spPr>
          <a:xfrm>
            <a:off x="713232" y="6419088"/>
            <a:ext cx="140817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85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IA</a:t>
            </a:r>
            <a:endParaRPr lang="en-US" sz="630" dirty="0"/>
          </a:p>
        </p:txBody>
      </p:sp>
      <p:sp>
        <p:nvSpPr>
          <p:cNvPr id="145" name="Shape 143"/>
          <p:cNvSpPr/>
          <p:nvPr/>
        </p:nvSpPr>
        <p:spPr>
          <a:xfrm>
            <a:off x="2176272" y="6281928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17C3B2"/>
          </a:solidFill>
          <a:ln/>
        </p:spPr>
      </p:sp>
      <p:sp>
        <p:nvSpPr>
          <p:cNvPr id="146" name="Text 144"/>
          <p:cNvSpPr/>
          <p:nvPr/>
        </p:nvSpPr>
        <p:spPr>
          <a:xfrm>
            <a:off x="2176272" y="62819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147" name="Text 145"/>
          <p:cNvSpPr/>
          <p:nvPr/>
        </p:nvSpPr>
        <p:spPr>
          <a:xfrm>
            <a:off x="2523744" y="6263640"/>
            <a:ext cx="140817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2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850" dirty="0"/>
          </a:p>
        </p:txBody>
      </p:sp>
      <p:sp>
        <p:nvSpPr>
          <p:cNvPr id="148" name="Text 146"/>
          <p:cNvSpPr/>
          <p:nvPr/>
        </p:nvSpPr>
        <p:spPr>
          <a:xfrm>
            <a:off x="2523744" y="6419088"/>
            <a:ext cx="140817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85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630" dirty="0"/>
          </a:p>
        </p:txBody>
      </p:sp>
      <p:sp>
        <p:nvSpPr>
          <p:cNvPr id="149" name="Shape 147"/>
          <p:cNvSpPr/>
          <p:nvPr/>
        </p:nvSpPr>
        <p:spPr>
          <a:xfrm>
            <a:off x="3986784" y="6281928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F6FED"/>
          </a:solidFill>
          <a:ln/>
        </p:spPr>
      </p:sp>
      <p:sp>
        <p:nvSpPr>
          <p:cNvPr id="150" name="Text 148"/>
          <p:cNvSpPr/>
          <p:nvPr/>
        </p:nvSpPr>
        <p:spPr>
          <a:xfrm>
            <a:off x="3986784" y="62819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100" dirty="0"/>
          </a:p>
        </p:txBody>
      </p:sp>
      <p:sp>
        <p:nvSpPr>
          <p:cNvPr id="151" name="Text 149"/>
          <p:cNvSpPr/>
          <p:nvPr/>
        </p:nvSpPr>
        <p:spPr>
          <a:xfrm>
            <a:off x="4334256" y="6263640"/>
            <a:ext cx="140817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2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850" dirty="0"/>
          </a:p>
        </p:txBody>
      </p:sp>
      <p:sp>
        <p:nvSpPr>
          <p:cNvPr id="152" name="Text 150"/>
          <p:cNvSpPr/>
          <p:nvPr/>
        </p:nvSpPr>
        <p:spPr>
          <a:xfrm>
            <a:off x="4334256" y="6419088"/>
            <a:ext cx="140817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85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sécurisé</a:t>
            </a:r>
            <a:endParaRPr lang="en-US" sz="630" dirty="0"/>
          </a:p>
        </p:txBody>
      </p:sp>
      <p:sp>
        <p:nvSpPr>
          <p:cNvPr id="153" name="Shape 151"/>
          <p:cNvSpPr/>
          <p:nvPr/>
        </p:nvSpPr>
        <p:spPr>
          <a:xfrm>
            <a:off x="5797296" y="6281928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8A5CF6"/>
          </a:solidFill>
          <a:ln/>
        </p:spPr>
      </p:sp>
      <p:sp>
        <p:nvSpPr>
          <p:cNvPr id="154" name="Text 152"/>
          <p:cNvSpPr/>
          <p:nvPr/>
        </p:nvSpPr>
        <p:spPr>
          <a:xfrm>
            <a:off x="5797296" y="62819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00" dirty="0"/>
          </a:p>
        </p:txBody>
      </p:sp>
      <p:sp>
        <p:nvSpPr>
          <p:cNvPr id="155" name="Text 153"/>
          <p:cNvSpPr/>
          <p:nvPr/>
        </p:nvSpPr>
        <p:spPr>
          <a:xfrm>
            <a:off x="6144768" y="6263640"/>
            <a:ext cx="140817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2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850" dirty="0"/>
          </a:p>
        </p:txBody>
      </p:sp>
      <p:sp>
        <p:nvSpPr>
          <p:cNvPr id="156" name="Text 154"/>
          <p:cNvSpPr/>
          <p:nvPr/>
        </p:nvSpPr>
        <p:spPr>
          <a:xfrm>
            <a:off x="6144768" y="6419088"/>
            <a:ext cx="140817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85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IA</a:t>
            </a:r>
            <a:endParaRPr lang="en-US" sz="630" dirty="0"/>
          </a:p>
        </p:txBody>
      </p:sp>
      <p:sp>
        <p:nvSpPr>
          <p:cNvPr id="157" name="Shape 155"/>
          <p:cNvSpPr/>
          <p:nvPr/>
        </p:nvSpPr>
        <p:spPr>
          <a:xfrm>
            <a:off x="7607808" y="6281928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E01E5A"/>
          </a:solidFill>
          <a:ln/>
        </p:spPr>
      </p:sp>
      <p:sp>
        <p:nvSpPr>
          <p:cNvPr id="158" name="Text 156"/>
          <p:cNvSpPr/>
          <p:nvPr/>
        </p:nvSpPr>
        <p:spPr>
          <a:xfrm>
            <a:off x="7607808" y="62819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159" name="Text 157"/>
          <p:cNvSpPr/>
          <p:nvPr/>
        </p:nvSpPr>
        <p:spPr>
          <a:xfrm>
            <a:off x="7955280" y="6263640"/>
            <a:ext cx="140817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2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850" dirty="0"/>
          </a:p>
        </p:txBody>
      </p:sp>
      <p:sp>
        <p:nvSpPr>
          <p:cNvPr id="160" name="Text 158"/>
          <p:cNvSpPr/>
          <p:nvPr/>
        </p:nvSpPr>
        <p:spPr>
          <a:xfrm>
            <a:off x="7955280" y="6419088"/>
            <a:ext cx="140817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85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temps réel</a:t>
            </a:r>
            <a:endParaRPr lang="en-US" sz="630" dirty="0"/>
          </a:p>
        </p:txBody>
      </p:sp>
      <p:sp>
        <p:nvSpPr>
          <p:cNvPr id="161" name="Shape 159"/>
          <p:cNvSpPr/>
          <p:nvPr/>
        </p:nvSpPr>
        <p:spPr>
          <a:xfrm>
            <a:off x="9418320" y="6281928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E4572E"/>
          </a:solidFill>
          <a:ln/>
        </p:spPr>
      </p:sp>
      <p:sp>
        <p:nvSpPr>
          <p:cNvPr id="162" name="Text 160"/>
          <p:cNvSpPr/>
          <p:nvPr/>
        </p:nvSpPr>
        <p:spPr>
          <a:xfrm>
            <a:off x="9418320" y="62819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63" name="Text 161"/>
          <p:cNvSpPr/>
          <p:nvPr/>
        </p:nvSpPr>
        <p:spPr>
          <a:xfrm>
            <a:off x="9765792" y="6263640"/>
            <a:ext cx="140817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2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850" dirty="0"/>
          </a:p>
        </p:txBody>
      </p:sp>
      <p:sp>
        <p:nvSpPr>
          <p:cNvPr id="164" name="Text 162"/>
          <p:cNvSpPr/>
          <p:nvPr/>
        </p:nvSpPr>
        <p:spPr>
          <a:xfrm>
            <a:off x="9765792" y="6419088"/>
            <a:ext cx="140817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85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630" dirty="0"/>
          </a:p>
        </p:txBody>
      </p:sp>
      <p:sp>
        <p:nvSpPr>
          <p:cNvPr id="165" name="Text 163"/>
          <p:cNvSpPr/>
          <p:nvPr/>
        </p:nvSpPr>
        <p:spPr>
          <a:xfrm>
            <a:off x="365760" y="6592824"/>
            <a:ext cx="10881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5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BankShield AI  —  Smart Automation Challenge  ·  Sujet 6  ·  Détection d'opérations bancaires inhabituelles</a:t>
            </a:r>
            <a:endParaRPr lang="en-US" sz="700" dirty="0"/>
          </a:p>
        </p:txBody>
      </p:sp>
      <p:sp>
        <p:nvSpPr>
          <p:cNvPr id="166" name="Text 164"/>
          <p:cNvSpPr/>
          <p:nvPr/>
        </p:nvSpPr>
        <p:spPr>
          <a:xfrm>
            <a:off x="365760" y="6729984"/>
            <a:ext cx="1088136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85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Jihane Majdoul · Salma Boukhlal · Abdelouahed Ahnid · Yassine Hadrane · Youssef Ait Bakrim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2026-09-09T21:48:25Z</dcterms:created>
  <dcterms:modified xsi:type="dcterms:W3CDTF">2026-09-09T21:48:25Z</dcterms:modified>
</cp:coreProperties>
</file>